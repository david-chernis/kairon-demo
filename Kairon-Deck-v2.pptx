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F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1371600" cy="13716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914400"/>
            <a:ext cx="1097280" cy="1097280"/>
          </a:xfrm>
          <a:prstGeom prst="ellipse">
            <a:avLst/>
          </a:prstGeom>
          <a:solidFill>
            <a:srgbClr val="F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548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55"/>
                </a:solidFill>
                <a:latin typeface="Inter"/>
              </a:rPr>
              <a:t>kairon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2D55"/>
                </a:solidFill>
                <a:latin typeface="Inter"/>
              </a:rPr>
              <a:t>Give doctors back
the moment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0A0A"/>
                </a:solidFill>
                <a:latin typeface="Inter"/>
              </a:rPr>
              <a:t>Local AI documentation for psychiatric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35"/>
                </a:solidFill>
                <a:latin typeface="Inter"/>
              </a:rPr>
              <a:t>Starting in Germany. Built in Switzerland. Scaling across Europe.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03520"/>
            <a:ext cx="3200400" cy="411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30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Made in Switzerland · ETH Zurich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6 reasons to invest in Kairon.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Proven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19 psychiatrists surveyed · 74% willing to pay · 89% spend 2+ hours weekly on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23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Legal necessity, not a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Art. 321 StGB (CH) + §203 StGB (DE) make cloud AI legally questionable. Local AI is the only compliant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23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Zero 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No validated local-first AI documentation tool exists in DACH. Cloud competitors cannot credibly serve this market.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Massive market, perfect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$1.2B European CDI market · 81K DACH therapists · Local LLMs hit production quality 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Strong unit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343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~80% gross margin (no cloud compute) · Customer ROI: 6x return · Break-even ~Month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  <a:latin typeface="Inter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ETH ecosystem · Built in 48h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343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Survey → validation → landing page in two days. ETH Zurich + HSG · Technology &amp; Entrepreneurship FS2026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2D55"/>
                </a:solidFill>
                <a:latin typeface="Inter"/>
              </a:rPr>
              <a:t>€500K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Seed raise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2D55"/>
                </a:solidFill>
                <a:latin typeface="Inter"/>
              </a:rPr>
              <a:t>€49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Phase 1 / user /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2D55"/>
                </a:solidFill>
                <a:latin typeface="Inter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2D55"/>
                </a:solidFill>
                <a:latin typeface="Inter"/>
              </a:rPr>
              <a:t>M18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Break-even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371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2D55"/>
                </a:solidFill>
                <a:latin typeface="Inter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of a doctor's time
on paperwork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6B35"/>
                </a:solidFill>
                <a:latin typeface="Inter"/>
              </a:rPr>
              <a:t>AMA / Tandem Health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371600"/>
            <a:ext cx="1371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2D55"/>
                </a:solidFill>
                <a:latin typeface="Inter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Psychiatrists: most
admin of all specialties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6B35"/>
                </a:solidFill>
                <a:latin typeface="Inter"/>
              </a:rPr>
              <a:t>PubMed 25626223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371600"/>
            <a:ext cx="1371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2D55"/>
                </a:solidFill>
                <a:latin typeface="Inter"/>
              </a:rPr>
              <a:t>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040"/>
                </a:solidFill>
                <a:latin typeface="Inter"/>
              </a:rPr>
              <a:t>of psychologists
report burnout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6B35"/>
                </a:solidFill>
                <a:latin typeface="Inter"/>
              </a:rPr>
              <a:t>APA 2022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40"/>
            <a:ext cx="1371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55"/>
                </a:solidFill>
                <a:latin typeface="Inter"/>
              </a:rPr>
              <a:t>2-8h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per week on documentation
(Kairon survey, n=19)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291840"/>
            <a:ext cx="1371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55"/>
                </a:solidFill>
                <a:latin typeface="Inter"/>
              </a:rPr>
              <a:t>6+mo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patient wait times in
DACH (BPtK 2023)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291840"/>
            <a:ext cx="1371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55"/>
                </a:solidFill>
                <a:latin typeface="Inter"/>
              </a:rPr>
              <a:t>1.8M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clinician shortfall in
Europe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A0A0A"/>
                </a:solidFill>
                <a:latin typeface="Inter"/>
              </a:rPr>
              <a:t>"I became a doctor to help people. Not to type."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137160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554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THE PRIVACY PARADOX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A"/>
                </a:solidFill>
                <a:latin typeface="Inter"/>
              </a:rPr>
              <a:t>→ 90% cite privacy &amp; secrecy as #1 concern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A"/>
                </a:solidFill>
                <a:latin typeface="Inter"/>
              </a:rPr>
              <a:t>→ 63% demand data stays on-device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A"/>
                </a:solidFill>
                <a:latin typeface="Inter"/>
              </a:rPr>
              <a:t>→ 84% have never used an AI documentation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A"/>
                </a:solidFill>
                <a:latin typeface="Inter"/>
              </a:rPr>
              <a:t>→ 16% wanted AI but were blocked by privacy concerns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3474720"/>
            <a:ext cx="5943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611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LEGAL REALITY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Art. 321 StGB (CH) + §203 StGB (DE) make cloud AI legally questionable for therapy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2D55"/>
                </a:solidFill>
                <a:latin typeface="Inter"/>
              </a:rPr>
              <a:t>AI solutions exist. Therapists can't use them. Demand is proven. Supply is blocked.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A090"/>
                </a:solidFill>
                <a:latin typeface="Inter"/>
              </a:rPr>
              <a:t>Kairon survey · March 2026 · n=19 · AMA · Tandem Health · APA 2022 · BPtK 2023 · Mordor Intelligence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CUSTOMER DISCOVERY · PRIMARY RESEARCH · N=19 · GERMANY · 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63% demand on-device only.
Zero competitors offer this.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2D55"/>
                </a:solidFill>
                <a:latin typeface="Inter"/>
              </a:rPr>
              <a:t>63%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40"/>
                </a:solidFill>
                <a:latin typeface="Inter"/>
              </a:rPr>
              <a:t>demand on-device only — no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6032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Inter"/>
              </a:rP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40"/>
                </a:solidFill>
                <a:latin typeface="Inter"/>
              </a:rPr>
              <a:t>spend 2+ hours weekly on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Inter"/>
              </a:rPr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40"/>
                </a:solidFill>
                <a:latin typeface="Inter"/>
              </a:rPr>
              <a:t>would use a tool if GDPR-compliant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6B4040"/>
                </a:solidFill>
                <a:latin typeface="Inter"/>
              </a:rPr>
              <a:t>84%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40"/>
                </a:solidFill>
                <a:latin typeface="Inter"/>
              </a:rPr>
              <a:t>have never used an AI documentation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0515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Willingness to pay — per user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Under €50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5120640"/>
            <a:ext cx="6400800" cy="18288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5120640"/>
            <a:ext cx="5029200" cy="182880"/>
          </a:xfrm>
          <a:prstGeom prst="round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5074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€50-100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5468112"/>
            <a:ext cx="6400800" cy="18288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5468112"/>
            <a:ext cx="2011680" cy="1828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54223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Would not pay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5815584"/>
            <a:ext cx="6400800" cy="18288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77440" y="5815584"/>
            <a:ext cx="2468880" cy="182880"/>
          </a:xfrm>
          <a:prstGeom prst="roundRect">
            <a:avLst/>
          </a:prstGeom>
          <a:solidFill>
            <a:srgbClr val="C0A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5769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43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74% willing to pay · 53% say &lt;€50/month · Phase 1 price of €49 aligns with median WTP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A090"/>
                </a:solidFill>
                <a:latin typeface="Inter"/>
              </a:rPr>
              <a:t>Source: Kairon primary research · 19 psychiatrists · Germany ·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Kairon. Your clinic's AI scribe.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55"/>
                </a:solidFill>
                <a:latin typeface="Inter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880360"/>
            <a:ext cx="3657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A"/>
                </a:solidFill>
                <a:latin typeface="Inter"/>
              </a:rPr>
              <a:t>Session recorded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Audio captured with patient consent on your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55"/>
                </a:solidFill>
                <a:latin typeface="Inter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2880360"/>
            <a:ext cx="3657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A"/>
                </a:solidFill>
                <a:latin typeface="Inter"/>
              </a:rPr>
              <a:t>Kairon structures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Transcription and formatting — never transmitted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55"/>
                </a:solidFill>
                <a:latin typeface="Inter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39" y="2880360"/>
            <a:ext cx="3657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A"/>
                </a:solidFill>
                <a:latin typeface="Inter"/>
              </a:rPr>
              <a:t>Reports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Clinical notes, insurance forms, referral letters in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9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55"/>
                </a:solidFill>
                <a:latin typeface="Inter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01399" y="2880360"/>
            <a:ext cx="3657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9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A"/>
                </a:solidFill>
                <a:latin typeface="Inter"/>
              </a:rPr>
              <a:t>Doctor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One click to approve. Human always in the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4040"/>
                </a:solidFill>
                <a:latin typeface="Inter"/>
              </a:rPr>
              <a:t>Kairon never generates clinical opinions. The thinking stays human. The paperwork doesn't.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303520"/>
            <a:ext cx="109728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5321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5303520"/>
            <a:ext cx="201168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Handwriting via camera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5303520"/>
            <a:ext cx="182880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321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Existing digital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7060"/>
                </a:solidFill>
                <a:latin typeface="Inter"/>
              </a:rPr>
              <a:t>Zero behaviour change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ARCHITECTURE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GDPR compliant by architecture,
not by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FFF0EE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EVERY 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3333"/>
                </a:solidFill>
                <a:latin typeface="Inter"/>
              </a:rPr>
              <a:t>✗ Data sent to cloud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64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3333"/>
                </a:solidFill>
                <a:latin typeface="Inter"/>
              </a:rPr>
              <a:t>✗ GDPR compliance via contracts and promises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484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3333"/>
                </a:solidFill>
                <a:latin typeface="Inter"/>
              </a:rPr>
              <a:t>✗ One breach ends the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32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3333"/>
                </a:solidFill>
                <a:latin typeface="Inter"/>
              </a:rPr>
              <a:t>✗ Hospital IT says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165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3333"/>
                </a:solidFill>
                <a:latin typeface="Inter"/>
              </a:rPr>
              <a:t>✗ Liability exposure for the clinic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F0FBF5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44"/>
                </a:solidFill>
                <a:latin typeface="Inter"/>
              </a:rPr>
              <a:t>KAIRON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8844"/>
                </a:solidFill>
                <a:latin typeface="Inter"/>
              </a:rPr>
              <a:t>✓ Data never leaves the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64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8844"/>
                </a:solidFill>
                <a:latin typeface="Inter"/>
              </a:rPr>
              <a:t>✓ Compliance guaranteed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484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8844"/>
                </a:solidFill>
                <a:latin typeface="Inter"/>
              </a:rPr>
              <a:t>✓ Nothing to breach — nothing transmitted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32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8844"/>
                </a:solidFill>
                <a:latin typeface="Inter"/>
              </a:rPr>
              <a:t>✓ Hospital IT says 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165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8844"/>
                </a:solidFill>
                <a:latin typeface="Inter"/>
              </a:rPr>
              <a:t>✓ Liability minimised by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4572000" cy="822960"/>
          </a:xfrm>
          <a:prstGeom prst="roundRect">
            <a:avLst>
              <a:gd name="adj" fmla="val 4000"/>
            </a:avLst>
          </a:prstGeom>
          <a:solidFill>
            <a:srgbClr val="FFF0EE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Art. 321 StGB (CH) + §203 StGB (DE)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Professional secrecy laws. Cloud AI = legal grey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663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D55"/>
                </a:solidFill>
                <a:latin typeface="Inter"/>
              </a:rPr>
              <a:t>Local AI = legal necessity.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669280"/>
            <a:ext cx="128016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687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HL7 FHIR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669280"/>
            <a:ext cx="128016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687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SAP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5669280"/>
            <a:ext cx="128016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5687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Epic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5669280"/>
            <a:ext cx="128016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687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Dedalus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669280"/>
            <a:ext cx="1280160" cy="365760"/>
          </a:xfrm>
          <a:prstGeom prst="roundRect">
            <a:avLst>
              <a:gd name="adj" fmla="val 4000"/>
            </a:avLst>
          </a:prstGeom>
          <a:solidFill>
            <a:srgbClr val="FFFBF8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687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Cerner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126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7060"/>
                </a:solidFill>
                <a:latin typeface="Inter"/>
              </a:rPr>
              <a:t>Integrates as structured data input layer into existing hospital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Starting niche.
Scaling massive.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286000"/>
            <a:ext cx="3840480" cy="3840480"/>
          </a:xfrm>
          <a:prstGeom prst="ellipse">
            <a:avLst/>
          </a:prstGeom>
          <a:solidFill>
            <a:srgbClr val="FFF0EA"/>
          </a:solidFill>
          <a:ln w="19050">
            <a:solidFill>
              <a:srgbClr val="F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7060"/>
                </a:solidFill>
                <a:latin typeface="Inter"/>
              </a:rPr>
              <a:t>European Healthcare IT
$98B TAM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2834640"/>
            <a:ext cx="2743200" cy="2743200"/>
          </a:xfrm>
          <a:prstGeom prst="ellipse">
            <a:avLst/>
          </a:prstGeom>
          <a:solidFill>
            <a:srgbClr val="FFE0D5"/>
          </a:solidFill>
          <a:ln w="19050">
            <a:solidFill>
              <a:srgbClr val="F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040"/>
                </a:solidFill>
                <a:latin typeface="Inter"/>
              </a:rPr>
              <a:t>Clinical Documentation
$1.2B EU SAM</a:t>
            </a:r>
          </a:p>
        </p:txBody>
      </p:sp>
      <p:sp>
        <p:nvSpPr>
          <p:cNvPr id="8" name="Oval 7"/>
          <p:cNvSpPr/>
          <p:nvPr/>
        </p:nvSpPr>
        <p:spPr>
          <a:xfrm>
            <a:off x="2194560" y="3383280"/>
            <a:ext cx="1645920" cy="1645920"/>
          </a:xfrm>
          <a:prstGeom prst="ellipse">
            <a:avLst/>
          </a:prstGeom>
          <a:solidFill>
            <a:srgbClr val="FF2D55"/>
          </a:solidFill>
          <a:ln w="1905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931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Year 1 SOM
€500K ARR
20 pilots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A0A"/>
                </a:solidFill>
                <a:latin typeface="Inter"/>
              </a:rPr>
              <a:t>DACH market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2D55"/>
                </a:solidFill>
                <a:latin typeface="Inter"/>
              </a:rPr>
              <a:t>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Switzerland — 15.5K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7060"/>
                </a:solidFill>
                <a:latin typeface="Inter"/>
              </a:rPr>
              <a:t>11K therapists · 4.5K psychiatrists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Inter"/>
              </a:rPr>
              <a:t>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Germany — 58.5K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55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7060"/>
                </a:solidFill>
                <a:latin typeface="Inter"/>
              </a:rPr>
              <a:t>50K therapists · 8.5K psychiatrists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B347"/>
                </a:solidFill>
                <a:latin typeface="Inter"/>
              </a:rPr>
              <a:t>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Austria — 12K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587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7060"/>
                </a:solidFill>
                <a:latin typeface="Inter"/>
              </a:rPr>
              <a:t>10K therapists · 2K psychologists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0A"/>
                </a:solidFill>
                <a:latin typeface="Inter"/>
              </a:rPr>
              <a:t>Total DACH: ~81K clinicians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754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0EE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892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55"/>
                </a:solidFill>
                <a:latin typeface="Inter"/>
              </a:rPr>
              <a:t>Regulatory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Art. 321 StGB (CH) + §203 StGB (DE) + nDSG 2023 + GDPR classify therapy data as the highest protection tier.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669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Local AI isn't a feature — it's a legal necessity.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A090"/>
                </a:solidFill>
                <a:latin typeface="Inter"/>
              </a:rPr>
              <a:t>Sources: Mordor Intelligence 2024 · Credence Research CDI 2024 · FSP · KBV/BPtK · Bundesgesundheitsministerium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Four forces converging.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4040"/>
                </a:solidFill>
                <a:latin typeface="Inter"/>
              </a:rPr>
              <a:t>The window for a local-first AI scribe in DACH has opened. It won't stay open long.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FFFBF8"/>
          </a:solidFill>
          <a:ln w="12700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70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0A0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A0A"/>
                </a:solidFill>
                <a:latin typeface="Inter"/>
              </a:rPr>
              <a:t>Local LLMs hit production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3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Whisper + Llama run on clinic hardware since 2024. The technology that makes Kairon possible arrived —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D55"/>
                </a:solidFill>
                <a:latin typeface="Inter"/>
              </a:rPr>
              <a:t>TECHNOLOGY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743200"/>
            <a:ext cx="502920" cy="502920"/>
          </a:xfrm>
          <a:prstGeom prst="ellipse">
            <a:avLst/>
          </a:prstGeom>
          <a:solidFill>
            <a:srgbClr val="FFFBF8"/>
          </a:solidFill>
          <a:ln w="12700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70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0A0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A0A"/>
                </a:solidFill>
                <a:latin typeface="Inter"/>
              </a:rPr>
              <a:t>Hardware costs dropped 5× in 3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63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Local inference is now affordable for a mid-size psychiatric practice. The economics flipped.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  <a:latin typeface="Inter"/>
              </a:rPr>
              <a:t>ECONOMICS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FFFBF8"/>
          </a:solidFill>
          <a:ln w="12700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908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0A0A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63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A0A"/>
                </a:solidFill>
                <a:latin typeface="Inter"/>
              </a:rPr>
              <a:t>Regulation tightening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83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Germany ePA mandatory Jan 2025. nDSG 2023. GDPR enforcement accelerating. Cloud AI tools for therapy are under legal pressure.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347"/>
                </a:solidFill>
                <a:latin typeface="Inter"/>
              </a:rPr>
              <a:t>REGULATION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663440"/>
            <a:ext cx="502920" cy="502920"/>
          </a:xfrm>
          <a:prstGeom prst="ellipse">
            <a:avLst/>
          </a:prstGeom>
          <a:solidFill>
            <a:srgbClr val="FFFBF8"/>
          </a:solidFill>
          <a:ln w="12700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6908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0A0A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63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A0A"/>
                </a:solidFill>
                <a:latin typeface="Inter"/>
              </a:rPr>
              <a:t>Post-pandemic mental health crisis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983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WHO reports +25% anxiety &amp; depression globally. Waitlists 6+ months in DACH. Therapist burnout at all-time highs (APA: 46%).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669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040"/>
                </a:solidFill>
                <a:latin typeface="Inter"/>
              </a:rPr>
              <a:t>DEMAND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60720"/>
            <a:ext cx="105156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0A0A"/>
                </a:solidFill>
                <a:latin typeface="Inter"/>
              </a:rPr>
              <a:t>No validated local-first competitor exists in DACH psychiatric market. The window is open.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A090"/>
                </a:solidFill>
                <a:latin typeface="Inter"/>
              </a:rPr>
              <a:t>Sources: WHO 2022 · APA 2022 · BPtK 2023 · BMG ePA 2025 · nDSG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Simple, recurring, defensible.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Inter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0A0A"/>
                </a:solidFill>
                <a:latin typeface="Inter"/>
              </a:rPr>
              <a:t>€49 / user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Psychiatric clinics · Germany + Switzerland
Pilot Q2 2026 · Target: 20 clinics · 100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Inter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0A0A"/>
                </a:solidFill>
                <a:latin typeface="Inter"/>
              </a:rPr>
              <a:t>€99 / clinic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5 specialties · 3 countries
Deep SAP / Epic / Dedalus integration · Target: 200 clinics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Inter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55"/>
                </a:solidFill>
                <a:latin typeface="Inter"/>
              </a:rPr>
              <a:t>Enterprise 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Hospital networks + ERP partnerships
Acquisition target: Roche, SAP Health, Epic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D55"/>
                </a:solidFill>
                <a:latin typeface="Inter"/>
              </a:rPr>
              <a:t>Clinics /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D55"/>
                </a:solidFill>
                <a:latin typeface="Inter"/>
              </a:rPr>
              <a:t>ARR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20 clinics / 100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A0A"/>
                </a:solidFill>
                <a:latin typeface="Inter"/>
              </a:rPr>
              <a:t>€58.8K 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100 clinics / 500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A0A"/>
                </a:solidFill>
                <a:latin typeface="Inter"/>
              </a:rPr>
              <a:t>€294K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200 clinics / 1,000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A0A"/>
                </a:solidFill>
                <a:latin typeface="Inter"/>
              </a:rPr>
              <a:t>€588K ARR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502920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D55"/>
                </a:solidFill>
                <a:latin typeface="Inter"/>
              </a:rPr>
              <a:t>PRICING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74% willing to pay · 53% say &lt;€50/mo · Phase 1 price of €49 aligns with median WTP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5486400"/>
            <a:ext cx="512064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D55"/>
                </a:solidFill>
                <a:latin typeface="Inter"/>
              </a:rPr>
              <a:t>UNIT ECONOMICS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~80% gross margin (no cloud compute) · Break-even ~Month 18 · Customer ROI: 6×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No one else does all of this locally.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116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  <a:gridCol w="2286000"/>
              </a:tblGrid>
              <a:tr h="386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5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Kairon</a:t>
                      </a:r>
                    </a:p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Local-first AI</a:t>
                      </a:r>
                    </a:p>
                  </a:txBody>
                  <a:tcPr>
                    <a:solidFill>
                      <a:srgbClr val="F5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Cloud AI</a:t>
                      </a:r>
                    </a:p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Nabla · DeepScribe · Nuance</a:t>
                      </a:r>
                    </a:p>
                  </a:txBody>
                  <a:tcPr>
                    <a:solidFill>
                      <a:srgbClr val="F5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Practice Mgmt</a:t>
                      </a:r>
                    </a:p>
                    <a:p>
                      <a:pPr>
                        <a:defRPr sz="1100" b="1">
                          <a:solidFill>
                            <a:srgbClr val="1A0A0A"/>
                          </a:solidFill>
                          <a:latin typeface="Inter"/>
                        </a:defRPr>
                      </a:pPr>
                      <a:r>
                        <a:t>Psyprax · Elexir</a:t>
                      </a:r>
                    </a:p>
                  </a:txBody>
                  <a:tcPr>
                    <a:solidFill>
                      <a:srgbClr val="F5EEE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Data stays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8800"/>
                          </a:solidFill>
                          <a:latin typeface="Inter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AI session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Insurance reports CH/DE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Art. 321 / §203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By design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8800"/>
                          </a:solidFill>
                          <a:latin typeface="Inter"/>
                        </a:defRPr>
                      </a:pPr>
                      <a:r>
                        <a:t>Gray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Works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German-native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Expandable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844"/>
                          </a:solidFill>
                          <a:latin typeface="Inter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3333"/>
                          </a:solidFill>
                          <a:latin typeface="Inter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8800"/>
                          </a:solidFill>
                          <a:latin typeface="Inter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Pricing / user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2D55"/>
                          </a:solidFill>
                          <a:latin typeface="Inter"/>
                        </a:defRPr>
                      </a:pPr>
                      <a:r>
                        <a:t>€49-99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$300-1,000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B4040"/>
                          </a:solidFill>
                          <a:latin typeface="Inter"/>
                        </a:defRPr>
                      </a:pPr>
                      <a:r>
                        <a:t>€30-100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2D55"/>
                </a:solidFill>
                <a:latin typeface="Inter"/>
              </a:rPr>
              <a:t>Cloud competitors cannot credibly serve DACH therapy due to professional secrecy laws. We're not competing — we're replacing.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TRACTION · BUILT IN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0A0A"/>
                </a:solidFill>
                <a:latin typeface="Inter"/>
              </a:rPr>
              <a:t>From idea to validation in 48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423160"/>
            <a:ext cx="10058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331720"/>
            <a:ext cx="201168" cy="201168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55"/>
                </a:solidFill>
                <a:latin typeface="Inter"/>
              </a:rPr>
              <a:t>Sun 29 March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0A0A"/>
                </a:solidFill>
                <a:latin typeface="Inter"/>
              </a:rPr>
              <a:t>Idea 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Technology &amp; Entrepreneurship
course, ETH Zurich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2331720"/>
            <a:ext cx="201168" cy="201168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55"/>
                </a:solidFill>
                <a:latin typeface="Inter"/>
              </a:rPr>
              <a:t>Sunday evening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0A0A"/>
                </a:solidFill>
                <a:latin typeface="Inter"/>
              </a:rPr>
              <a:t>Survey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Psychiatrists in Munich and
nationwide Germany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331720"/>
            <a:ext cx="201168" cy="201168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55"/>
                </a:solidFill>
                <a:latin typeface="Inter"/>
              </a:rPr>
              <a:t>Mon 30 March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0A0A"/>
                </a:solidFill>
                <a:latin typeface="Inter"/>
              </a:rPr>
              <a:t>19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Primary research complete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2331720"/>
            <a:ext cx="201168" cy="201168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55"/>
                </a:solidFill>
                <a:latin typeface="Inter"/>
              </a:rPr>
              <a:t>Tue 31 March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0A0A"/>
                </a:solidFill>
                <a:latin typeface="Inter"/>
              </a:rPr>
              <a:t>Landing page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kairon.health · Waitlist open</a:t>
            </a:r>
          </a:p>
        </p:txBody>
      </p:sp>
      <p:sp>
        <p:nvSpPr>
          <p:cNvPr id="21" name="Oval 20"/>
          <p:cNvSpPr/>
          <p:nvPr/>
        </p:nvSpPr>
        <p:spPr>
          <a:xfrm>
            <a:off x="11064240" y="2331720"/>
            <a:ext cx="201168" cy="201168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55"/>
                </a:solidFill>
                <a:latin typeface="Inter"/>
              </a:rPr>
              <a:t>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0A0A"/>
                </a:solidFill>
                <a:latin typeface="Inter"/>
              </a:rPr>
              <a:t>Pilot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4040"/>
                </a:solidFill>
                <a:latin typeface="Inter"/>
              </a:rPr>
              <a:t>3 psychiatric clinics · Germany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74720"/>
            <a:ext cx="53035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55"/>
                </a:solidFill>
                <a:latin typeface="Inter"/>
              </a:rPr>
              <a:t>Live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31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kairon.health — landing page with waitlist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040"/>
                </a:solidFill>
                <a:latin typeface="Inter"/>
              </a:rPr>
              <a:t>Local-first architecture validated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53035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55"/>
                </a:solidFill>
                <a:latin typeface="Inter"/>
              </a:rPr>
              <a:t>First pilot conversation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4040"/>
                </a:solidFill>
                <a:latin typeface="Inter"/>
              </a:rPr>
              <a:t>Munich psychiatrist: "I built my own tool — I'm curious which model you use. Happy to exchange."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  <a:latin typeface="Inter"/>
              </a:rPr>
              <a:t>Early adopter identified.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THE TEAM · WHY 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21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2578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László 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440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35"/>
                </a:solidFill>
                <a:latin typeface="Inter"/>
              </a:rPr>
              <a:t>CEO &amp; CO-FOUNDER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040"/>
                </a:solidFill>
                <a:latin typeface="Inter"/>
              </a:rPr>
              <a:t>Market sizing, go-to-market, regulatory strategy.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51206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11880" y="52578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321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52578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David Chernis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440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35"/>
                </a:solidFill>
                <a:latin typeface="Inter"/>
              </a:rPr>
              <a:t>CTO &amp; CO-FOUNDER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040"/>
                </a:solidFill>
                <a:latin typeface="Inter"/>
              </a:rPr>
              <a:t>AI/ML engineering. Local model deployment. Built first AI doc tool.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59" y="51206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92239" y="5257800"/>
            <a:ext cx="502920" cy="50292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39" y="5321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JA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19" y="52578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Julian Aebi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19" y="5440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35"/>
                </a:solidFill>
                <a:latin typeface="Inter"/>
              </a:rPr>
              <a:t>BUSINESS &amp; STRATEGY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39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040"/>
                </a:solidFill>
                <a:latin typeface="Inter"/>
              </a:rPr>
              <a:t>Business strategy, partnerships, go-to-market execution.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19" y="51206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72599" y="52578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599" y="5321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II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79" y="52578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0A"/>
                </a:solidFill>
                <a:latin typeface="Inter"/>
              </a:rPr>
              <a:t>Igor Isakov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79" y="5440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35"/>
                </a:solidFill>
                <a:latin typeface="Inter"/>
              </a:rPr>
              <a:t>BUSINESS DEVELOPMENT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72599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040"/>
                </a:solidFill>
                <a:latin typeface="Inter"/>
              </a:rPr>
              <a:t>Business development, clinic outreach, revenue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2D55"/>
                </a:solidFill>
                <a:latin typeface="Inter"/>
              </a:rPr>
              <a:t>We're raising €500K seed.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55"/>
                </a:solidFill>
                <a:latin typeface="Inter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0A0A"/>
                </a:solidFill>
                <a:latin typeface="Inter"/>
              </a:rPr>
              <a:t>€200K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Product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Local model integration · ERP connectors · Handwriting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55"/>
                </a:solidFill>
                <a:latin typeface="Inter"/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0A0A"/>
                </a:solidFill>
                <a:latin typeface="Inter"/>
              </a:rPr>
              <a:t>€175K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Pilot clinics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20 clinics · 3 months · Germany + Switzerland · IRB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011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55"/>
                </a:solidFill>
                <a:latin typeface="Inter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0A0A"/>
                </a:solidFill>
                <a:latin typeface="Inter"/>
              </a:rPr>
              <a:t>€125K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Inter"/>
              </a:rPr>
              <a:t>Regulatory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4040"/>
                </a:solidFill>
                <a:latin typeface="Inter"/>
              </a:rPr>
              <a:t>GDPR audit · BDSG certification · DPO appointment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Inter"/>
              </a:rPr>
              <a:t>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4040"/>
                </a:solidFill>
                <a:latin typeface="Inter"/>
              </a:rPr>
              <a:t>Pilot live · 3 clinics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11480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41605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Inter"/>
              </a:rPr>
              <a:t>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3891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4040"/>
                </a:solidFill>
                <a:latin typeface="Inter"/>
              </a:rPr>
              <a:t>20 clinics · Germany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11480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41605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Inter"/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3891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4040"/>
                </a:solidFill>
                <a:latin typeface="Inter"/>
              </a:rPr>
              <a:t>Series A · 5 specialties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347472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0A0A"/>
                </a:solidFill>
                <a:latin typeface="Inter"/>
              </a:rPr>
              <a:t>~18mo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to break-even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4937760"/>
            <a:ext cx="347472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0A0A"/>
                </a:solidFill>
                <a:latin typeface="Inter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79" y="5394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gross 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937760"/>
            <a:ext cx="347472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0A0A"/>
                </a:solidFill>
                <a:latin typeface="Inter"/>
              </a:rPr>
              <a:t>6×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5394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4040"/>
                </a:solidFill>
                <a:latin typeface="Inter"/>
              </a:rPr>
              <a:t>customer 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55"/>
                </a:solidFill>
                <a:latin typeface="Inter"/>
              </a:rPr>
              <a:t>The moment that matters is now.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4040"/>
                </a:solidFill>
                <a:latin typeface="Inter"/>
              </a:rPr>
              <a:t>pilot@kairon.health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A090"/>
                </a:solidFill>
                <a:latin typeface="Inter"/>
              </a:rPr>
              <a:t>Made in Switzerland · ETH Zurich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